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46"/>
  </p:normalViewPr>
  <p:slideViewPr>
    <p:cSldViewPr snapToGrid="0" snapToObjects="1" showGuides="1">
      <p:cViewPr varScale="1">
        <p:scale>
          <a:sx n="70" d="100"/>
          <a:sy n="70" d="100"/>
        </p:scale>
        <p:origin x="51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Employee Attrition Prediction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Machine Learning Capstone Project</a:t>
            </a:r>
            <a:endParaRPr dirty="0"/>
          </a:p>
          <a:p>
            <a:r>
              <a:rPr dirty="0"/>
              <a:t>Prepared by:</a:t>
            </a:r>
            <a:r>
              <a:rPr lang="en-IN" dirty="0"/>
              <a:t>Avinash Adhav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Predict employees likely to leave the organization.</a:t>
            </a:r>
          </a:p>
          <a:p>
            <a:pPr>
              <a:defRPr sz="2400"/>
            </a:pPr>
            <a:r>
              <a:t>Support HR with proactive retention strategies.</a:t>
            </a:r>
          </a:p>
          <a:p>
            <a:pPr>
              <a:defRPr sz="2400"/>
            </a:pPr>
            <a:r>
              <a:t>Reduce attrition and recruitment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Dataset: IBM HR Employee Attrition</a:t>
            </a:r>
          </a:p>
          <a:p>
            <a:pPr>
              <a:defRPr sz="2400"/>
            </a:pPr>
            <a:r>
              <a:t>Records: 1,470</a:t>
            </a:r>
          </a:p>
          <a:p>
            <a:pPr>
              <a:defRPr sz="2400"/>
            </a:pPr>
            <a:r>
              <a:t>Target Variable: Attrition (Yes/No)</a:t>
            </a:r>
          </a:p>
          <a:p>
            <a:pPr>
              <a:defRPr sz="2400"/>
            </a:pPr>
            <a:r>
              <a:t>Problem Type: Binary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Removed identifier and constant columns.</a:t>
            </a:r>
          </a:p>
          <a:p>
            <a:pPr>
              <a:defRPr sz="2400"/>
            </a:pPr>
            <a:r>
              <a:t>Handled outliers using IQR.</a:t>
            </a:r>
          </a:p>
          <a:p>
            <a:pPr>
              <a:defRPr sz="2400"/>
            </a:pPr>
            <a:r>
              <a:t>Applied </a:t>
            </a:r>
            <a:r>
              <a:rPr lang="en-IN"/>
              <a:t>Lable Encoding</a:t>
            </a:r>
            <a:r>
              <a:t>.</a:t>
            </a:r>
          </a:p>
          <a:p>
            <a:pPr>
              <a:defRPr sz="2400"/>
            </a:pPr>
            <a:r>
              <a:t>Standardized features using StandardScaler.</a:t>
            </a:r>
          </a:p>
          <a:p>
            <a:pPr>
              <a:defRPr sz="2400"/>
            </a:pPr>
            <a:r>
              <a:t>Performed 80:20 train-test split.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Logistic Regression</a:t>
            </a:r>
          </a:p>
          <a:p>
            <a:pPr>
              <a:defRPr sz="2400"/>
            </a:pPr>
            <a:r>
              <a:t>Decision Tree</a:t>
            </a:r>
          </a:p>
          <a:p>
            <a:pPr>
              <a:defRPr sz="2400"/>
            </a:pPr>
            <a:r>
              <a:t>Random Forest</a:t>
            </a:r>
          </a:p>
          <a:p>
            <a:pPr>
              <a:defRPr sz="2400"/>
            </a:pPr>
            <a:r>
              <a:t>Compared models using Accuracy, Precision, Recall and F1-score.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Model Comparison</a:t>
            </a:r>
            <a:br>
              <a:rPr lang="en-US" dirty="0"/>
            </a:br>
            <a:endParaRPr dirty="0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419100" y="1600200"/>
          <a:ext cx="9037320" cy="3710940"/>
        </p:xfrm>
        <a:graphic>
          <a:graphicData uri="http://schemas.openxmlformats.org/drawingml/2006/table">
            <a:tbl>
              <a:tblPr/>
              <a:tblGrid>
                <a:gridCol w="1506220"/>
                <a:gridCol w="1506220"/>
                <a:gridCol w="1506220"/>
                <a:gridCol w="1506220"/>
                <a:gridCol w="1506220"/>
                <a:gridCol w="1506220"/>
              </a:tblGrid>
              <a:tr h="618490">
                <a:tc>
                  <a:txBody>
                    <a:bodyPr/>
                    <a:p>
                      <a:pPr algn="ctr"/>
                      <a:r>
                        <a:rPr sz="1100"/>
                        <a:t>Rank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Model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Accuracy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Precision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Recall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F1 Score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8490">
                <a:tc>
                  <a:txBody>
                    <a:bodyPr/>
                    <a:p>
                      <a:pPr algn="ctr"/>
                      <a:r>
                        <a:rPr sz="1100"/>
                        <a:t>1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Logistic Regression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0.800410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0.579048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0.471429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0.518125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8490">
                <a:tc>
                  <a:txBody>
                    <a:bodyPr/>
                    <a:p>
                      <a:pPr algn="ctr"/>
                      <a:r>
                        <a:rPr sz="1100"/>
                        <a:t>2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Naive Bayes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0.775166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0.497618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0.528571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0.507142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8490">
                <a:tc>
                  <a:txBody>
                    <a:bodyPr/>
                    <a:p>
                      <a:pPr algn="ctr"/>
                      <a:r>
                        <a:rPr sz="1100"/>
                        <a:t>3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Decision Tree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0.749411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0.427692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0.385714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0.404102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8490">
                <a:tc>
                  <a:txBody>
                    <a:bodyPr/>
                    <a:p>
                      <a:pPr algn="ctr"/>
                      <a:r>
                        <a:rPr sz="1100"/>
                        <a:t>4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Random Forest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0.810292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0.803333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0.214286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0.332147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8490">
                <a:tc>
                  <a:txBody>
                    <a:bodyPr/>
                    <a:p>
                      <a:pPr algn="ctr"/>
                      <a:r>
                        <a:rPr sz="1100"/>
                        <a:t>5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K-Nearest Neighbors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0.787814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0.472381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0.185714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100"/>
                        <a:t>0.264745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Top drivers increasing attrition:</a:t>
            </a:r>
          </a:p>
          <a:p>
            <a:pPr>
              <a:defRPr sz="2400"/>
            </a:pPr>
            <a:r>
              <a:t>• Overtime</a:t>
            </a:r>
          </a:p>
          <a:p>
            <a:pPr>
              <a:defRPr sz="2400"/>
            </a:pPr>
            <a:r>
              <a:t>• Frequent Business Travel</a:t>
            </a:r>
          </a:p>
          <a:p>
            <a:pPr>
              <a:defRPr sz="2400"/>
            </a:pPr>
            <a:r>
              <a:t>• Years Since Last Promotion</a:t>
            </a:r>
          </a:p>
          <a:p>
            <a:pPr>
              <a:defRPr sz="2400"/>
            </a:pPr>
            <a:r>
              <a:t>Retention factors: Job Satisfaction, Stock Options, Work-Life Balance.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Overtime employees are at highest attrition risk.</a:t>
            </a:r>
          </a:p>
          <a:p>
            <a:pPr>
              <a:defRPr sz="2400"/>
            </a:pPr>
            <a:r>
              <a:t>Frequent travel increases attrition.</a:t>
            </a:r>
          </a:p>
          <a:p>
            <a:pPr>
              <a:defRPr sz="2400"/>
            </a:pPr>
            <a:r>
              <a:t>Long promotion gaps increase attrition.</a:t>
            </a:r>
          </a:p>
          <a:p>
            <a:pPr>
              <a:defRPr sz="2400"/>
            </a:pPr>
            <a:r>
              <a:t>Higher job satisfaction and work-life balance improve retention.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Reduce excessive overtime.</a:t>
            </a:r>
            <a:endParaRPr dirty="0"/>
          </a:p>
          <a:p>
            <a:pPr>
              <a:defRPr sz="2400"/>
            </a:pPr>
            <a:r>
              <a:rPr dirty="0"/>
              <a:t>Improve promotion opportunities.</a:t>
            </a:r>
            <a:endParaRPr dirty="0"/>
          </a:p>
          <a:p>
            <a:pPr>
              <a:defRPr sz="2400"/>
            </a:pPr>
            <a:r>
              <a:rPr dirty="0"/>
              <a:t>Review compensation and stock options.</a:t>
            </a:r>
            <a:endParaRPr dirty="0"/>
          </a:p>
          <a:p>
            <a:pPr>
              <a:defRPr sz="2400"/>
            </a:pPr>
            <a:r>
              <a:rPr dirty="0"/>
              <a:t>Enhance work-life balance and employee engagement.</a:t>
            </a:r>
            <a:endParaRPr dirty="0"/>
          </a:p>
          <a:p>
            <a:pPr>
              <a:defRPr sz="2400"/>
            </a:pPr>
            <a:r>
              <a:rPr dirty="0"/>
              <a:t>Monitor high-risk employees proactively.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Best Model: Logistic Regression</a:t>
            </a:r>
            <a:endParaRPr dirty="0"/>
          </a:p>
          <a:p>
            <a:pPr>
              <a:defRPr sz="2400"/>
            </a:pPr>
            <a:r>
              <a:rPr dirty="0"/>
              <a:t>Accuracy: 8</a:t>
            </a:r>
            <a:r>
              <a:rPr lang="en-IN" dirty="0"/>
              <a:t>0</a:t>
            </a:r>
            <a:r>
              <a:rPr dirty="0"/>
              <a:t>.</a:t>
            </a:r>
            <a:r>
              <a:rPr lang="en-IN" dirty="0"/>
              <a:t>00</a:t>
            </a:r>
            <a:r>
              <a:rPr dirty="0"/>
              <a:t>%</a:t>
            </a:r>
            <a:endParaRPr dirty="0"/>
          </a:p>
          <a:p>
            <a:pPr>
              <a:defRPr sz="2400"/>
            </a:pPr>
            <a:r>
              <a:rPr dirty="0"/>
              <a:t>Model can help HR identify employees at risk.</a:t>
            </a:r>
            <a:endParaRPr dirty="0"/>
          </a:p>
          <a:p>
            <a:pPr>
              <a:defRPr sz="2400"/>
            </a:pPr>
            <a:r>
              <a:rPr dirty="0"/>
              <a:t>Supports proactive retention decisions.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1716</Words>
  <Application>WPS Presentation</Application>
  <PresentationFormat>Custom</PresentationFormat>
  <Paragraphs>137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Employee Attrition Prediction</vt:lpstr>
      <vt:lpstr>Business Problem</vt:lpstr>
      <vt:lpstr>Dataset Overview</vt:lpstr>
      <vt:lpstr>Data Preparation</vt:lpstr>
      <vt:lpstr>Machine Learning Models</vt:lpstr>
      <vt:lpstr>Model Comparison </vt:lpstr>
      <vt:lpstr>Feature Importance</vt:lpstr>
      <vt:lpstr>Business Insights</vt:lpstr>
      <vt:lpstr>Recommendations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Avinash Adhav</cp:lastModifiedBy>
  <cp:revision>12</cp:revision>
  <dcterms:created xsi:type="dcterms:W3CDTF">2013-01-27T09:14:00Z</dcterms:created>
  <dcterms:modified xsi:type="dcterms:W3CDTF">2026-08-04T16:38:35Z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3AC373A51C584656AD93C88A4B7701C1_13</vt:lpwstr>
  </property>
  <property fmtid="{D5CDD505-2E9C-101B-9397-08002B2CF9AE}" pid="3" name="KSOProductBuildVer">
    <vt:lpwstr>1033-12.1.0.27458</vt:lpwstr>
  </property>
</Properties>
</file>